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7" r:id="rId5"/>
    <p:sldId id="258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4C6F"/>
    <a:srgbClr val="E677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2A08F-5CB5-3B37-CA40-F6B56B0AC4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C0C72D-10CB-8921-F7FA-E0B4E1C00C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27D0B-1AF8-C27A-A444-2D2D8B56A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4223-9FBE-45A9-996A-14398EA753D6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E573F-4D82-D3E0-5D3B-2FEDA36A7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0A333-87AE-AF41-F64E-C362E8DF2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789EE-0DDD-46DF-ACA5-076FDB021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161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A1055-05E5-63BB-3807-A6D201E7A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749D1-2C30-7F16-10A1-06757BA97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78661-E973-1D8D-D393-E95E591A0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4223-9FBE-45A9-996A-14398EA753D6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0706D-9EE8-235C-5446-2D720A02E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077DE-7180-AE5E-7336-DA4F9B65B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789EE-0DDD-46DF-ACA5-076FDB021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886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7EDDB-5655-809B-78D2-0D80445EF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149A1B-A8E1-0476-14BE-B63747AE6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D4FE5-9F05-6E44-240A-206B1301F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4223-9FBE-45A9-996A-14398EA753D6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2CFF3-C7E0-F862-E517-2036F4FAA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29A02-1DFE-243F-994F-8E906C21D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789EE-0DDD-46DF-ACA5-076FDB021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965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12571-30CE-F3D8-3729-F1CC46EB3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AAA55-0C11-6D00-D9EE-68D56578AC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DC8D8-C869-4734-99D5-B7CF90F4C0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0E456-81DE-AFF3-1690-9FADDE1E0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4223-9FBE-45A9-996A-14398EA753D6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0B1C64-E210-4A5B-9834-BB041D092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D9EEB0-2F0E-0EBC-94E9-CCFDC4A38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789EE-0DDD-46DF-ACA5-076FDB021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383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BE0B4-8FC9-6DF1-2CA9-F83ACE5BE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99269-62EF-0C14-F2FC-81A2DCE65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3A7010-7487-33AC-67D6-58A30176EE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D8F5A9-4779-14ED-10B9-A76EEBE8C5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735BC6-0DC2-0B2F-9CCE-18FC5624C5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135F5A-8CDF-AEE9-D292-D4DB5EBAA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4223-9FBE-45A9-996A-14398EA753D6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44421C-0624-929F-80A6-133065B19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B51DAF-2039-82DC-7100-33F6D8517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789EE-0DDD-46DF-ACA5-076FDB021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581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C5CE-678E-9946-35E7-5B257E0BC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48DA66-7457-3007-3843-F58EA3124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4223-9FBE-45A9-996A-14398EA753D6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965EA0-98DC-3284-0D3B-5309ED7D4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2C382-81CD-BE07-94B3-DCDAED273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789EE-0DDD-46DF-ACA5-076FDB021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365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DD5018-8EE9-41D0-8487-42D6CB392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4223-9FBE-45A9-996A-14398EA753D6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831290-DC18-8761-9C0F-46B4774A1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9CEAA-96FE-6065-AF5A-77A4A8D47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789EE-0DDD-46DF-ACA5-076FDB021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964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6645E-7003-0202-C6BC-54EAE766B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48908-1D50-5A06-0037-682BC98A5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3ADD5-89DE-3EAF-3F99-B8DA8AD010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2B1A4A-FE6A-B8D7-D734-25A31ED89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4223-9FBE-45A9-996A-14398EA753D6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FC1FE1-988D-4DD0-63DF-CC3D6C2B9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B47358-6C52-A701-BE17-7EEE87588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789EE-0DDD-46DF-ACA5-076FDB021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403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A4D4E-884E-5C7A-A1F8-3CED19784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C30EC5-275A-581D-4FD4-7826504290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B566A-F464-A374-E7DD-6C9EC9D83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3061C4-A110-611C-9C6C-B72671C86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4223-9FBE-45A9-996A-14398EA753D6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020D2C-53C4-AA40-DCAD-1C221B160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A2B679-F0A9-722D-3802-6E4846E0D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789EE-0DDD-46DF-ACA5-076FDB021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070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CAB90-81E5-495C-8E88-253EABEE1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29F009-9846-7FFC-758E-91CBA048E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A86B8-A72C-C621-3CE8-0587C62C8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4223-9FBE-45A9-996A-14398EA753D6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0E558-AEFD-17EB-6D5A-46F3E2664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90115-4D64-3F86-4FC7-8C48BEC6A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789EE-0DDD-46DF-ACA5-076FDB021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700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EDAEF7-E8C4-CB44-B8A1-2BEC5053AE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F23F75-87D2-9718-70E3-B630338D36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D4663-DE0F-EC86-649A-406E5954D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4223-9FBE-45A9-996A-14398EA753D6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97031-2CFB-38A1-4282-D2D8C26C7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7DEDB-F500-A3F5-1F9A-0B912035A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789EE-0DDD-46DF-ACA5-076FDB021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092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3F08D0-2ECA-371D-284C-F46FD7CA9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8C6FA5-244A-DCB2-D453-B772E082E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17DF6-DE49-38ED-0F90-5372736A4B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BA4223-9FBE-45A9-996A-14398EA753D6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9B3E1-1401-BD6E-FF98-27433EC0F9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51857-EF91-ED89-66EC-955BF9C8BC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8789EE-0DDD-46DF-ACA5-076FDB021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07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29100-2656-2681-3A03-93E3AB7FF7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Image Classification with Teachable Machine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DC29C-337E-DC0F-E313-76DEEB343D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Anjuli Jain Figueroa</a:t>
            </a:r>
          </a:p>
        </p:txBody>
      </p:sp>
    </p:spTree>
    <p:extLst>
      <p:ext uri="{BB962C8B-B14F-4D97-AF65-F5344CB8AC3E}">
        <p14:creationId xmlns:p14="http://schemas.microsoft.com/office/powerpoint/2010/main" val="2366042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F2E4A1-A2EF-2144-8050-119C219CB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260" y="132462"/>
            <a:ext cx="6001479" cy="604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522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64DFA-8A70-E000-03EC-9CB8E85B3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2104"/>
          </a:xfrm>
        </p:spPr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4A4C1-455E-03A4-49C1-607AB7A86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680" y="1049707"/>
            <a:ext cx="10515600" cy="41973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Building Facades with and without window AC units</a:t>
            </a:r>
          </a:p>
        </p:txBody>
      </p:sp>
      <p:pic>
        <p:nvPicPr>
          <p:cNvPr id="7" name="Picture 6" descr="A brick building with a fence and a tree&#10;&#10;AI-generated content may be incorrect.">
            <a:extLst>
              <a:ext uri="{FF2B5EF4-FFF2-40B4-BE49-F238E27FC236}">
                <a16:creationId xmlns:a16="http://schemas.microsoft.com/office/drawing/2014/main" id="{E7F5E410-4963-216D-F8EF-37473D467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26"/>
          <a:stretch/>
        </p:blipFill>
        <p:spPr>
          <a:xfrm>
            <a:off x="8267703" y="4150053"/>
            <a:ext cx="3676922" cy="2546022"/>
          </a:xfrm>
          <a:prstGeom prst="rect">
            <a:avLst/>
          </a:prstGeom>
        </p:spPr>
      </p:pic>
      <p:pic>
        <p:nvPicPr>
          <p:cNvPr id="9" name="Picture 8" descr="A house with a garage and trash cans&#10;&#10;AI-generated content may be incorrect.">
            <a:extLst>
              <a:ext uri="{FF2B5EF4-FFF2-40B4-BE49-F238E27FC236}">
                <a16:creationId xmlns:a16="http://schemas.microsoft.com/office/drawing/2014/main" id="{51A20131-2FF1-4B3E-1B13-574564A0B7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098" y="1599781"/>
            <a:ext cx="3661527" cy="2116346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5F25CA03-D3D6-CBF4-2D8E-D8FDAD7DED39}"/>
              </a:ext>
            </a:extLst>
          </p:cNvPr>
          <p:cNvSpPr/>
          <p:nvPr/>
        </p:nvSpPr>
        <p:spPr>
          <a:xfrm>
            <a:off x="9792389" y="2719604"/>
            <a:ext cx="447040" cy="41973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1FE2961-23EF-8CE6-CF86-B1F619CC60C4}"/>
              </a:ext>
            </a:extLst>
          </p:cNvPr>
          <p:cNvSpPr/>
          <p:nvPr/>
        </p:nvSpPr>
        <p:spPr>
          <a:xfrm>
            <a:off x="9959498" y="5082070"/>
            <a:ext cx="447040" cy="41973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red truck parked on the side of a road&#10;&#10;AI-generated content may be incorrect.">
            <a:extLst>
              <a:ext uri="{FF2B5EF4-FFF2-40B4-BE49-F238E27FC236}">
                <a16:creationId xmlns:a16="http://schemas.microsoft.com/office/drawing/2014/main" id="{89E1DC83-FE37-9A20-33DD-5150F114CF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7319" y="4150052"/>
            <a:ext cx="4035418" cy="2513535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F54BAB47-F019-EA4F-3592-E16DF7E73B81}"/>
              </a:ext>
            </a:extLst>
          </p:cNvPr>
          <p:cNvSpPr/>
          <p:nvPr/>
        </p:nvSpPr>
        <p:spPr>
          <a:xfrm>
            <a:off x="6282576" y="5183670"/>
            <a:ext cx="447040" cy="41973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A house with a driveway and a tree&#10;&#10;AI-generated content may be incorrect.">
            <a:extLst>
              <a:ext uri="{FF2B5EF4-FFF2-40B4-BE49-F238E27FC236}">
                <a16:creationId xmlns:a16="http://schemas.microsoft.com/office/drawing/2014/main" id="{57A7525C-CDA1-5F9B-85C1-756BF0EDF5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9" r="8521" b="-660"/>
          <a:stretch/>
        </p:blipFill>
        <p:spPr>
          <a:xfrm>
            <a:off x="494061" y="4150052"/>
            <a:ext cx="3125745" cy="2513535"/>
          </a:xfrm>
          <a:prstGeom prst="rect">
            <a:avLst/>
          </a:prstGeom>
        </p:spPr>
      </p:pic>
      <p:pic>
        <p:nvPicPr>
          <p:cNvPr id="20" name="Picture 19" descr="A car parked in front of a house&#10;&#10;AI-generated content may be incorrect.">
            <a:extLst>
              <a:ext uri="{FF2B5EF4-FFF2-40B4-BE49-F238E27FC236}">
                <a16:creationId xmlns:a16="http://schemas.microsoft.com/office/drawing/2014/main" id="{AA56D48F-CB0F-3CEB-4836-592ABA2E8C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930" r="-1"/>
          <a:stretch/>
        </p:blipFill>
        <p:spPr>
          <a:xfrm>
            <a:off x="340883" y="1503109"/>
            <a:ext cx="6904872" cy="2213018"/>
          </a:xfrm>
          <a:prstGeom prst="rect">
            <a:avLst/>
          </a:prstGeom>
        </p:spPr>
      </p:pic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A14ADEF7-26A3-2359-B354-0935D4AAC0BE}"/>
              </a:ext>
            </a:extLst>
          </p:cNvPr>
          <p:cNvCxnSpPr>
            <a:cxnSpLocks/>
          </p:cNvCxnSpPr>
          <p:nvPr/>
        </p:nvCxnSpPr>
        <p:spPr>
          <a:xfrm rot="5400000">
            <a:off x="3149185" y="2182611"/>
            <a:ext cx="5194145" cy="3767807"/>
          </a:xfrm>
          <a:prstGeom prst="bentConnector3">
            <a:avLst>
              <a:gd name="adj1" fmla="val 47066"/>
            </a:avLst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504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05264-A62E-E1C2-3E6E-76B9E5081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9646"/>
          </a:xfrm>
        </p:spPr>
        <p:txBody>
          <a:bodyPr>
            <a:normAutofit/>
          </a:bodyPr>
          <a:lstStyle/>
          <a:p>
            <a:r>
              <a:rPr lang="en-US" dirty="0"/>
              <a:t>Workflow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01738B-622E-BCBD-3C4D-E2CF13359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29" y="1414235"/>
            <a:ext cx="10842171" cy="507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921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E5103-3E8F-8E86-98D6-3A703F5CD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and Testing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37BADC-244D-B01A-7AD4-3A7DFB4B9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29" y="1842837"/>
            <a:ext cx="1680519" cy="2743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EF4485-D55D-3BED-471F-3C51D7CDE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8286" y="1842837"/>
            <a:ext cx="1794807" cy="274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32F841-9660-BB50-18C8-5230745105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9634" y="1842837"/>
            <a:ext cx="1818751" cy="2743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93A947-9D60-30CD-794D-6A0193791B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0464" y="1842837"/>
            <a:ext cx="1812113" cy="2743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0F819E5-9A81-CF58-2882-B56E344F65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7336" y="3595293"/>
            <a:ext cx="1719469" cy="2743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203838-C565-744E-4AFB-34B8BD92DA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6805" y="685800"/>
            <a:ext cx="1753021" cy="2743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63D565F-2AF0-C766-23AB-B9BA20FAAD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61536" y="3565130"/>
            <a:ext cx="1755648" cy="27432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C8CB993-C30D-EDD5-8BCF-D06360CE3020}"/>
              </a:ext>
            </a:extLst>
          </p:cNvPr>
          <p:cNvSpPr txBox="1"/>
          <p:nvPr/>
        </p:nvSpPr>
        <p:spPr>
          <a:xfrm>
            <a:off x="1069736" y="1473505"/>
            <a:ext cx="1732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E67701"/>
                </a:solidFill>
              </a:rPr>
              <a:t>No Window AC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1ED324-FBC4-7EAD-5569-911F73709803}"/>
              </a:ext>
            </a:extLst>
          </p:cNvPr>
          <p:cNvSpPr txBox="1"/>
          <p:nvPr/>
        </p:nvSpPr>
        <p:spPr>
          <a:xfrm>
            <a:off x="4769664" y="1421448"/>
            <a:ext cx="1432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D84C6F"/>
                </a:solidFill>
              </a:rPr>
              <a:t>Window AC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A53703-46D7-8880-6ABC-1BBB04E89A4B}"/>
              </a:ext>
            </a:extLst>
          </p:cNvPr>
          <p:cNvSpPr txBox="1"/>
          <p:nvPr/>
        </p:nvSpPr>
        <p:spPr>
          <a:xfrm>
            <a:off x="8364422" y="845458"/>
            <a:ext cx="160529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Still tries to classify</a:t>
            </a:r>
          </a:p>
          <a:p>
            <a:r>
              <a:rPr lang="en-US" dirty="0"/>
              <a:t>even if there’s </a:t>
            </a:r>
          </a:p>
          <a:p>
            <a:r>
              <a:rPr lang="en-US" dirty="0"/>
              <a:t>no building in the image.</a:t>
            </a:r>
          </a:p>
          <a:p>
            <a:endParaRPr lang="en-US" dirty="0"/>
          </a:p>
          <a:p>
            <a:r>
              <a:rPr lang="en-US" dirty="0"/>
              <a:t>Maybe need “other” category</a:t>
            </a:r>
          </a:p>
        </p:txBody>
      </p:sp>
    </p:spTree>
    <p:extLst>
      <p:ext uri="{BB962C8B-B14F-4D97-AF65-F5344CB8AC3E}">
        <p14:creationId xmlns:p14="http://schemas.microsoft.com/office/powerpoint/2010/main" val="335613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07A6D-6B02-EF0B-D2DE-E7284C68C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 and Loss Measures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8CD73D-2B19-84A1-AE67-70DFB4514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2162810"/>
            <a:ext cx="3924300" cy="2857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48865E-91A1-3E56-B147-DD2706E5381A}"/>
              </a:ext>
            </a:extLst>
          </p:cNvPr>
          <p:cNvSpPr txBox="1"/>
          <p:nvPr/>
        </p:nvSpPr>
        <p:spPr>
          <a:xfrm>
            <a:off x="1353530" y="5336464"/>
            <a:ext cx="28828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Interpret with caution! Model is sparse for illustration purposes only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DA0794B-34D9-8EBB-536A-87200D5C0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0810" y="2162810"/>
            <a:ext cx="39243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1FBA65-10D1-F869-E7EE-82D9EFCD667C}"/>
              </a:ext>
            </a:extLst>
          </p:cNvPr>
          <p:cNvSpPr txBox="1"/>
          <p:nvPr/>
        </p:nvSpPr>
        <p:spPr>
          <a:xfrm>
            <a:off x="9862854" y="3469094"/>
            <a:ext cx="18623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May want to check for overfitting – no clear sign but test loss increases just slightly.</a:t>
            </a:r>
          </a:p>
          <a:p>
            <a:endParaRPr lang="en-US" sz="1200" dirty="0"/>
          </a:p>
          <a:p>
            <a:r>
              <a:rPr lang="en-US" sz="1200" dirty="0"/>
              <a:t>Both lines trend down so generalizable model.</a:t>
            </a:r>
          </a:p>
        </p:txBody>
      </p:sp>
    </p:spTree>
    <p:extLst>
      <p:ext uri="{BB962C8B-B14F-4D97-AF65-F5344CB8AC3E}">
        <p14:creationId xmlns:p14="http://schemas.microsoft.com/office/powerpoint/2010/main" val="1446031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85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Image Classification with Teachable Machine</vt:lpstr>
      <vt:lpstr>PowerPoint Presentation</vt:lpstr>
      <vt:lpstr>Data</vt:lpstr>
      <vt:lpstr>Workflow</vt:lpstr>
      <vt:lpstr>Output and Testing</vt:lpstr>
      <vt:lpstr>Accuracy and Loss Measures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Anjuli Jain</dc:creator>
  <cp:lastModifiedBy>Anjuli Jain</cp:lastModifiedBy>
  <cp:revision>1</cp:revision>
  <dcterms:created xsi:type="dcterms:W3CDTF">2025-02-24T01:47:57Z</dcterms:created>
  <dcterms:modified xsi:type="dcterms:W3CDTF">2025-02-24T02:30:06Z</dcterms:modified>
</cp:coreProperties>
</file>